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f7e6dfac244253" /><Relationship Type="http://schemas.openxmlformats.org/officeDocument/2006/relationships/extended-properties" Target="/docProps/app.xml" Id="Re4258c6db7c0489a" /><Relationship Type="http://schemas.openxmlformats.org/officeDocument/2006/relationships/officeDocument" Target="/ppt/presentation.xml" Id="R82ddba9151c947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a87ddc78994f4e"/>
  </p:sldMasterIdLst>
  <p:notesMasterIdLst>
    <p:notesMasterId xmlns:r="http://schemas.openxmlformats.org/officeDocument/2006/relationships" r:id="Rf2ac498166da4f1c"/>
  </p:notesMasterIdLst>
  <p:sldIdLst>
    <p:sldId xmlns:r="http://schemas.openxmlformats.org/officeDocument/2006/relationships" id="256" r:id="Rc1ea542559644c67"/>
    <p:sldId xmlns:r="http://schemas.openxmlformats.org/officeDocument/2006/relationships" id="257" r:id="R828a6d28796c43c3"/>
    <p:sldId xmlns:r="http://schemas.openxmlformats.org/officeDocument/2006/relationships" id="258" r:id="R56a53eea07b946fd"/>
    <p:sldId xmlns:r="http://schemas.openxmlformats.org/officeDocument/2006/relationships" id="259" r:id="Ra5ac791eec004dd3"/>
    <p:sldId xmlns:r="http://schemas.openxmlformats.org/officeDocument/2006/relationships" id="260" r:id="Re50817a6d98349a8"/>
    <p:sldId xmlns:r="http://schemas.openxmlformats.org/officeDocument/2006/relationships" id="261" r:id="R0d11575950274f4f"/>
    <p:sldId xmlns:r="http://schemas.openxmlformats.org/officeDocument/2006/relationships" id="262" r:id="R877e83e6d77b40e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bdf8e5c00a46c2" /><Relationship Type="http://schemas.openxmlformats.org/officeDocument/2006/relationships/slideMaster" Target="/ppt/slideMasters/slideMaster1.xml" Id="R5ba87ddc78994f4e" /><Relationship Type="http://schemas.openxmlformats.org/officeDocument/2006/relationships/notesMaster" Target="/ppt/notesMasters/notesMaster1.xml" Id="Rf2ac498166da4f1c" /><Relationship Type="http://schemas.openxmlformats.org/officeDocument/2006/relationships/presProps" Target="/ppt/presProps.xml" Id="Rae33e855435f475e" /><Relationship Type="http://schemas.openxmlformats.org/officeDocument/2006/relationships/viewProps" Target="/ppt/viewProps.xml" Id="R5f8fd85d86de4264" /><Relationship Type="http://schemas.openxmlformats.org/officeDocument/2006/relationships/tableStyles" Target="/ppt/tableStyles.xml" Id="R8872e976aa1a4da1" /><Relationship Type="http://schemas.openxmlformats.org/officeDocument/2006/relationships/slide" Target="/ppt/slides/slide1.xml" Id="Rc1ea542559644c67" /><Relationship Type="http://schemas.openxmlformats.org/officeDocument/2006/relationships/slide" Target="/ppt/slides/slide2.xml" Id="R828a6d28796c43c3" /><Relationship Type="http://schemas.openxmlformats.org/officeDocument/2006/relationships/slide" Target="/ppt/slides/slide3.xml" Id="R56a53eea07b946fd" /><Relationship Type="http://schemas.openxmlformats.org/officeDocument/2006/relationships/slide" Target="/ppt/slides/slide4.xml" Id="Ra5ac791eec004dd3" /><Relationship Type="http://schemas.openxmlformats.org/officeDocument/2006/relationships/slide" Target="/ppt/slides/slide5.xml" Id="Re50817a6d98349a8" /><Relationship Type="http://schemas.openxmlformats.org/officeDocument/2006/relationships/slide" Target="/ppt/slides/slide6.xml" Id="R0d11575950274f4f" /><Relationship Type="http://schemas.openxmlformats.org/officeDocument/2006/relationships/slide" Target="/ppt/slides/slide7.xml" Id="R877e83e6d77b40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7ad2d8df9b49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7a4dc9ee2144e2" /><Relationship Type="http://schemas.openxmlformats.org/officeDocument/2006/relationships/notesMaster" Target="/ppt/notesMasters/notesMaster1.xml" Id="R184e557a545348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d838543d2d4321" /><Relationship Type="http://schemas.openxmlformats.org/officeDocument/2006/relationships/notesMaster" Target="/ppt/notesMasters/notesMaster1.xml" Id="R718ddba7c40149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c0ef203b2f4ace" /><Relationship Type="http://schemas.openxmlformats.org/officeDocument/2006/relationships/notesMaster" Target="/ppt/notesMasters/notesMaster1.xml" Id="R6cc772fd900248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271eaa12a74987" /><Relationship Type="http://schemas.openxmlformats.org/officeDocument/2006/relationships/notesMaster" Target="/ppt/notesMasters/notesMaster1.xml" Id="Rc362732b136e4f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1d284d2e204583" /><Relationship Type="http://schemas.openxmlformats.org/officeDocument/2006/relationships/notesMaster" Target="/ppt/notesMasters/notesMaster1.xml" Id="R5f38672c3b774f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9e828d03d54fd2" /><Relationship Type="http://schemas.openxmlformats.org/officeDocument/2006/relationships/notesMaster" Target="/ppt/notesMasters/notesMaster1.xml" Id="R4a0d80a941d848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f090f4b12e465f" /><Relationship Type="http://schemas.openxmlformats.org/officeDocument/2006/relationships/notesMaster" Target="/ppt/notesMasters/notesMaster1.xml" Id="R5b6a5c7aa92d45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f6bdd26e145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4f4d43d72b4301" /><Relationship Type="http://schemas.openxmlformats.org/officeDocument/2006/relationships/slideLayout" Target="/ppt/slideLayouts/slideLayout1.xml" Id="R98e87dd0546d49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e87dd0546d49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095fe712b4eac" /><Relationship Type="http://schemas.openxmlformats.org/officeDocument/2006/relationships/image" Target="/ppt/media/image.png" Id="R20b903aeb16a4c10" /><Relationship Type="http://schemas.openxmlformats.org/officeDocument/2006/relationships/notesSlide" Target="/ppt/notesSlides/notesSlide1.xml" Id="R073653ffcbbe48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df6bd91754468" /><Relationship Type="http://schemas.openxmlformats.org/officeDocument/2006/relationships/notesSlide" Target="/ppt/notesSlides/notesSlide2.xml" Id="R3a736ecefc1842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22ab7fbf24ff9" /><Relationship Type="http://schemas.openxmlformats.org/officeDocument/2006/relationships/notesSlide" Target="/ppt/notesSlides/notesSlide3.xml" Id="Rfb6b66a8cf6b41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fda6729864531" /><Relationship Type="http://schemas.openxmlformats.org/officeDocument/2006/relationships/notesSlide" Target="/ppt/notesSlides/notesSlide4.xml" Id="R81e78dbf79e143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445a9da824371" /><Relationship Type="http://schemas.openxmlformats.org/officeDocument/2006/relationships/notesSlide" Target="/ppt/notesSlides/notesSlide5.xml" Id="R5685d9e6a04d40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b03675aaf4db9" /><Relationship Type="http://schemas.openxmlformats.org/officeDocument/2006/relationships/image" Target="/ppt/media/image2.png" Id="R53b99d5a61ac4e61" /><Relationship Type="http://schemas.openxmlformats.org/officeDocument/2006/relationships/notesSlide" Target="/ppt/notesSlides/notesSlide6.xml" Id="R96639da1393549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bdef9d7a34e18" /><Relationship Type="http://schemas.openxmlformats.org/officeDocument/2006/relationships/notesSlide" Target="/ppt/notesSlides/notesSlide7.xml" Id="R29fc00b3743544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2BEB61-ED71-46E5-8C68-CD9E0585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CHATBOT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150C88-83FE-4882-B33E-5247FB45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E6D5D-1D79-4A7E-A3A9-6FF2BE49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다대유 챗봇은 DB 근거 기반 MVP까지 연결됐습니다.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14872-6D9A-41B5-88BA-D324AAA3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팀 공유용으로 지금까지 붙인 구조, 데이터, 남은 작업을 큰 흐름 위주로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057D01-0319-4453-8B43-FFAD4D21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2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ADFDB-34C9-4349-B067-BBCE0AE9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다대유 챗봇 개발 공유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CC752-D54E-454C-BAF4-8576A8FF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CBB42-AEA8-41CA-8996-D74A4CD86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66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E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903aeb16a4c10"/>
          <a:stretch xmlns:a="http://schemas.openxmlformats.org/drawingml/2006/main"/>
        </p:blipFill>
        <p:spPr>
          <a:xfrm xmlns:a="http://schemas.openxmlformats.org/drawingml/2006/main">
            <a:off x="7867650" y="819150"/>
            <a:ext cx="2362200" cy="2362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B93C0-8836-4277-AFB8-248DA919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22669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FB53A-1002-446E-99D6-46597FE5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6ECBF-7682-4D90-98DB-90464920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TourAPI 테스트 데이터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7B691-0E38-471B-83C8-11F9172C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62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대전 무장애 여행 콘텐츠를 documents/chunks로 적재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4162AF-1702-4F87-8F48-CB8040C6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22669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E967B8-E9A3-47AC-B789-8AA15FCC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718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8C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865E2-677B-4210-8321-F9EA7BFF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67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DeepSeek 역할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51A24D-8157-4779-BAF4-7D4D4A4D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62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질문분류 JSON 생성 + DB 근거 기반 최종 답변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2FD893-A68D-4516-B8E3-4E715977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00400"/>
            <a:ext cx="226695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856E13-F281-44F6-BE33-6B8580A6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1847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748F7-C65C-4CD2-9C08-AAF0A9BA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8671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embedding 비용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AADDA-A75A-43C3-AFCF-9F6CA141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1624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pgvector/embedding은 준비만 하고 실제 실행은 보류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80A2F3-DF7A-49C7-AEFF-312DBDA0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9527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C9DDC4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한 줄 상태</a:t>
            </a:r>
          </a:p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DB 기반 답변은 테스트 가능하고, 벡터 검색은 비용 확인 후 붙일 수 있게 준비만 끝낸 상태입니다.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7FAB6-3FE4-49F4-99EF-0000C3FD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95850"/>
            <a:ext cx="2952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DeepSeek + Supabase + JS ranking</a:t>
            </a:r>
          </a:p>
        </p:txBody>
      </p:sp>
    </p:spTree>
    <p:extLst>
      <p:ext uri="{BB962C8B-B14F-4D97-AF65-F5344CB8AC3E}">
        <p14:creationId xmlns:p14="http://schemas.microsoft.com/office/powerpoint/2010/main" val="1457603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A75342-3902-43DE-BC5B-3663EF84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RUNTIME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59BDF-8AEA-41C6-9BE5-1BF6F994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4CF2E-FC5C-48BF-B94E-947DAA87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질문은 분류, DB 조회, 답변 생성의 세 단계로 지나갑니다.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AEB46-27D6-4C1B-A85E-DD24CD7C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핵심은 LLM이 바로 상상해서 답하지 않고, 먼저 검색 가능한 구조로 질문을 바꾸는 것입니다.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37593-5416-49E0-9FD9-D9A3D774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2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166D3-543B-4D1A-A56C-EDE284DA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다대유 챗봇 개발 공유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4CBF89-A21C-4E44-9BAD-9074AE0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10940-1A31-4518-A31D-201565DC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7145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1. 사용자 질문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예: 대전어린이회관 휠체어 가능해?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EE78B-B23E-4CAA-AD49-C805131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AC4E9-A6C3-4FF1-805E-C85FA31B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5AB05-BEB6-4872-ABF8-5EA02368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7145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2. DeepSeek 질문분류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intent, 장소명, 접근성 조건을 JSON으로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071A4-5645-494E-B152-E3A8D22B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18975-CF15-47E5-BAC6-C4EE779C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765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8214F-8DFE-4D50-8538-22011FA4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7145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3. JS 서버 DB 조회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Supabase chunks 100개 후보를 조건 점수로 랭킹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A8C0A-E449-4A95-BB6A-9816E141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964314-8A90-43D5-9C1F-34BF8590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765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369FB-4621-4C47-B454-53185A95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2286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7145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4. DeepSeek 최종 답변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조회된 DB 근거만 전달해 자연어 답변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36F22-1A41-47A2-A522-43BD355D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9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8737D-03C2-47F4-BEC7-DDF75252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76525"/>
            <a:ext cx="361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cxnSp>
        <p:nvCxnSpPr>
          <p:cNvPr id="20" name=""/>
          <p:cNvCxnSpPr>
            <a:stCxn xmlns:a="http://schemas.openxmlformats.org/drawingml/2006/main" id="11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028950" y="3638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cxnSp>
        <p:nvCxnSpPr>
          <p:cNvPr id="21" name=""/>
          <p:cNvCxnSpPr>
            <a:stCxn xmlns:a="http://schemas.openxmlformats.org/drawingml/2006/main" id="14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5810250" y="3638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7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8591550" y="36385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6813F-55D2-45A5-85BC-080E5EFD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4933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{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  "intent": "check_accessibility",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  "accessibility_needs": ["wheelchair"],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  "place_name": "대전어린이회관",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  "location": "대전"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}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4959E3-2AF2-4B37-84C2-CACE6231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91050"/>
            <a:ext cx="44386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방식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embedding 없이 장소명, 카테고리, 접근성 필드, 날씨 조건을 점수화합니다.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나중 방식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 embedding을 만들고 pgvector 유사도 검색을 우선 사용합니다.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3301F7-6571-484C-AA98-6B5E2B02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00250"/>
            <a:ext cx="3181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질문분류 JSON은 화면에서 확인 가능</a:t>
            </a:r>
          </a:p>
        </p:txBody>
      </p:sp>
    </p:spTree>
    <p:extLst>
      <p:ext uri="{BB962C8B-B14F-4D97-AF65-F5344CB8AC3E}">
        <p14:creationId xmlns:p14="http://schemas.microsoft.com/office/powerpoint/2010/main" val="1622616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0E04A3-B26B-49E6-B318-B1B3A414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DATA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F780F-B195-4D56-9F3D-74971C84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1BFC80-1BF8-4108-9293-454A22A1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TourAPI는 수집용, Supabase는 챗봇 지식 저장소로 분리했습니다.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D1C170-3D2E-4202-BA1C-216DEE1A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질문마다 공공 API를 실시간 호출하지 않고, 미리 정제한 데이터를 DB에서 조회합니다.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C30A4-85A7-483C-B662-F013A025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2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1BE7C-8044-4575-8BC6-148D6633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다대유 챗봇 개발 공유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9F679-681A-4BBD-A89D-8EB9BBDF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0E6B0-6A3D-4523-BF99-92E78FEE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수집/갱신 흐름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3D74D-FCBC-496B-B1DF-9BFE882B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한국관광공사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TourAPI KorWithService2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7BC60-816B-4D07-9CF7-E629E980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수집 스크립트</a:t>
            </a:r>
          </a:p>
          <a:p xmlns:a="http://schemas.openxmlformats.org/drawingml/2006/main">
            <a:pPr algn="ctr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import-tourapi-barrier-free.mjs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CAA88-282D-40AC-8DB3-39BEF457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43250"/>
            <a:ext cx="2190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Supabase chatbot schema</a:t>
            </a:r>
          </a:p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documents / chunks</a:t>
            </a:r>
          </a:p>
        </p:txBody>
      </p:sp>
      <p:cxnSp>
        <p:nvCxnSpPr>
          <p:cNvPr id="12" name="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2971800" y="35528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cxnSp>
        <p:nvCxnSpPr>
          <p:cNvPr id="13" name=""/>
          <p:cNvCxnSpPr>
            <a:stCxn xmlns:a="http://schemas.openxmlformats.org/drawingml/2006/main" id="11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848350" y="3552825"/>
            <a:ext cx="685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997C9-23D3-4911-BF1E-7C611348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런타임 질문 흐름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E40DF-6A5E-41E9-AA0F-1513149A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1714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 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9661A-5E9F-4001-BC18-6A018F57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21526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Supabase 조회</a:t>
            </a:r>
          </a:p>
          <a:p xmlns:a="http://schemas.openxmlformats.org/drawingml/2006/main">
            <a:pPr algn="ctr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이미 쌓은 chunks 검색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55025-9E8A-4F44-A826-BAAA460F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200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기반 답변</a:t>
            </a:r>
          </a:p>
        </p:txBody>
      </p:sp>
      <p:cxnSp>
        <p:nvCxnSpPr>
          <p:cNvPr id="18" name=""/>
          <p:cNvCxnSpPr>
            <a:stCxn xmlns:a="http://schemas.openxmlformats.org/drawingml/2006/main" id="16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2495550" y="53054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8C28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17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5372100" y="53054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8C28"/>
            </a:solidFill>
            <a:prstDash val="solid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6AB66D-D1CF-4C82-B146-6AD6EACDE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781300"/>
            <a:ext cx="1885950" cy="285750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이렇게 나눈 이유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응답 속도 안정화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외부 API 장애 영향 축소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같은 데이터 반복 호출 방지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 품질 테스트가 쉬워짐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5AC975-86CD-4441-9C7C-17ADD4C8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57450"/>
            <a:ext cx="4762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외부 API는 운영 중 답변용이 아니라 데이터 적재/갱신용</a:t>
            </a:r>
          </a:p>
        </p:txBody>
      </p:sp>
    </p:spTree>
    <p:extLst>
      <p:ext uri="{BB962C8B-B14F-4D97-AF65-F5344CB8AC3E}">
        <p14:creationId xmlns:p14="http://schemas.microsoft.com/office/powerpoint/2010/main" val="1433404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4B04DB-5BA1-4671-9A12-0A4A33E4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DATA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B22AA8-27E1-43AB-950B-C12F2B6C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0DA5D-B7B0-4245-83D5-9DEB22F6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100개 테스트 데이터를 RAG용 문서와 문장 조각으로 저장했습니다.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1AF7F-ACE6-4257-9F6B-0F56AC19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원본은 사용자가 전달한 매뉴얼 파일이 아니라 한국관광공사 TourAPI 응답입니다.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F330E-30A5-4BE7-8F2A-BF1C32F8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2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E8A37-9EA0-4F1E-AF78-214F9863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다대유 챗봇 개발 공유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ADD0D-7818-4606-A8E3-5981ED60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F6584-25B8-4A66-BCFF-C209259B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286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802BB-406B-4A6C-8AAF-5CEE40AA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280A4-43F0-4384-900B-4DE470DA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chatbot.documents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B61C4-51DE-441B-ABDB-F6AD4210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433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장소 또는 원천 데이터 단위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1C182-8B5C-4FEE-A72F-CE1EE34B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286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D901F0-4352-47EC-A6F1-E74930B2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8C2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AFE75-1303-419C-B37A-AC9DC6A5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chatbot.chunks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35D56-C462-487C-A617-99C08B62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433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챗봇 검색용 접근성 문장 조각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CF9FB-5A26-464F-A30A-6F2B6EA7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81300"/>
            <a:ext cx="2286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01010-7414-4279-AF92-15765009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186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F8CA1-87CF-427D-9541-8879DD37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접근성 필드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0280D1-4E8D-4EF5-8C68-DB667D2F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43325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주차, 접근로, 엘리베이터, 화장실, 유모차 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BA5DB6-B13F-40B9-9009-36744748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571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수집 API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areaBasedSyncList2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대전 지역 무장애 관광 목록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detailWithTour2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각 콘텐츠의 접근성 상세정보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A1AD9-5197-4176-B1B6-1077960B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테스트 데이터 범위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8A580-6EB9-4E1C-879A-0BCBD2BD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관광지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A18F46-D2DC-4BE0-B7AF-11F36457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29200"/>
            <a:ext cx="1714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A9190-2449-4C24-A277-EA962280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문화시설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D9D5E-0FDC-43FD-B20F-0E808F88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238750"/>
            <a:ext cx="10001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D05FF-8343-4113-9BD7-419677C3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음식점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0982E-F24A-455E-A113-FE905F66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48300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DD0165-5B45-43F4-B0AE-AED48525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쇼핑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5B984-88BB-4DAC-85C9-F1D51623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657850"/>
            <a:ext cx="476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BDD580-CF30-407E-9C53-22DD650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숙박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81D822-BEE6-453C-8D0B-2214243D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867400"/>
            <a:ext cx="285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357AA-503F-44A2-8E8A-6E9AAD37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레포츠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4D2565-9C77-4BB7-9346-994B70FF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76950"/>
            <a:ext cx="190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B069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F61434-E695-4A50-86F9-042ECBDD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762500"/>
            <a:ext cx="64389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예시 chunk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대전어린이회관은 대전 지역의 문화시설 콘텐츠입니다. 무장애 접근성 정보는 장애인 주차, 휠체어 무료대여, 엘리베이터, 장애인 화장실, 유모차, 수유실입니다.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284673-AE9B-4A6D-8398-224FF9D5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829300"/>
            <a:ext cx="38481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E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source 형식: tourapi:KorWithService2:{contentid}</a:t>
            </a:r>
          </a:p>
        </p:txBody>
      </p:sp>
    </p:spTree>
    <p:extLst>
      <p:ext uri="{BB962C8B-B14F-4D97-AF65-F5344CB8AC3E}">
        <p14:creationId xmlns:p14="http://schemas.microsoft.com/office/powerpoint/2010/main" val="13506136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98CE78-F001-4570-AFA3-A5C92911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ANSWER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B2AF3-9E51-40F7-A203-763CB90C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F802A-7B7F-470F-B667-BD60461A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임베딩 없이도 조건 랭킹으로 근거 있는 답변을 먼저 테스트합니다.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E3FC4-EB3C-4E34-AEEA-51D98EC0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목표는 완벽한 검색이 아니라, 근거가 없으면 멈추는 안전한 챗봇 흐름을 검증하는 것입니다.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5FA21-433E-41A6-AFBF-39F0EB3C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2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7D679-5C23-4986-B4FE-A8959706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다대유 챗봇 개발 공유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638E3-F72E-4AFE-A4C5-9E933778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91576-0D94-4E02-95BF-EDF787E6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4003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질문분류 JSON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intent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place_name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accessibility_needs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weather_sensitive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keywords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0466A-8FC0-414E-B31A-2A068362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26479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JS 랭킹 검색</a:t>
            </a:r>
          </a:p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장소명 직접 매칭</a:t>
            </a:r>
          </a:p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카테고리 매칭</a:t>
            </a:r>
          </a:p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접근성 조건/필드 매칭</a:t>
            </a:r>
          </a:p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날씨 질문이면 실내 성격 우선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B3993-2326-43B4-B21B-883FCEA9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22669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DB 근거만 전달</a:t>
            </a:r>
          </a:p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Top 5 chunks 사용</a:t>
            </a:r>
          </a:p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없는 장소는 추천 금지</a:t>
            </a:r>
          </a:p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불확실한 시설은 방문 전 확인 권장</a:t>
            </a:r>
          </a:p>
        </p:txBody>
      </p:sp>
      <p:cxnSp>
        <p:nvCxnSpPr>
          <p:cNvPr id="11" name=""/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181350" y="3771900"/>
            <a:ext cx="1695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cxnSp>
        <p:nvCxnSpPr>
          <p:cNvPr id="12" name=""/>
          <p:cNvCxnSpPr>
            <a:stCxn xmlns:a="http://schemas.openxmlformats.org/drawingml/2006/main" id="10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37719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82262-B7EE-459E-B10D-F6707AF3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766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044F0-96B1-4C27-936F-F32C6E51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528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점수화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AFF44-44BC-446D-949E-5ECB1605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766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CA3BFE-D262-44D6-A656-ADF73D42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697B21-D612-43DB-9684-8E475D7C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19700"/>
            <a:ext cx="8191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F4C58D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중요한 가드레일</a:t>
            </a:r>
          </a:p>
          <a:p xmlns:a="http://schemas.openxmlformats.org/drawingml/2006/main">
            <a:pPr algn="l">
              <a:defRPr sz="135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성심당처럼 현재 100개 테스트 DB에 근거가 없으면 다른 장소를 억지로 추천하지 않습니다. 이건 품질 문제가 아니라 의도한 안전장치입니다.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E0E41-821E-47AE-8005-A285389B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457450"/>
            <a:ext cx="4476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AF5E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현재 검색: JS ranking / 다음 검색: pgvector similarity</a:t>
            </a:r>
          </a:p>
        </p:txBody>
      </p:sp>
    </p:spTree>
    <p:extLst>
      <p:ext uri="{BB962C8B-B14F-4D97-AF65-F5344CB8AC3E}">
        <p14:creationId xmlns:p14="http://schemas.microsoft.com/office/powerpoint/2010/main" val="1297392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29CCC8-3536-4FE5-9ADC-CD26B37B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CHAT UI / 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57015C-F83A-4BC5-B71E-504710A0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CD49A-15F5-4887-BDB1-5266438D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사용자는 크게 읽고, 개발자는 접힌 정보에서 근거를 확인합니다.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288A2-8484-4A52-A9CA-AC974314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챗봇 UI는 메인 화면 버튼에서 열리고, 답변/근거/질문분류를 같은 대화 흐름 안에서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4C5288-027D-45B8-BCB6-DBDD8D9E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2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3F8D9-4E24-4D5D-8B1D-1E0ADE04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다대유 챗봇 개발 공유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2E19AD-D01B-4231-B8CE-60E29BFC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2C396-E0A7-457D-AE9E-8B59236D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4767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BA06E-D130-4A62-89FC-D0D59C7E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476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b99d5a61ac4e61"/>
          <a:stretch xmlns:a="http://schemas.openxmlformats.org/drawingml/2006/main"/>
        </p:blipFill>
        <p:spPr>
          <a:xfrm xmlns:a="http://schemas.openxmlformats.org/drawingml/2006/main">
            <a:off x="1009650" y="2676525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21D6E-A8B2-4B48-B8FD-4F3422EE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24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무장애 여행 상담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412FC-FCBE-490E-AAFD-5258B51F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71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E7C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대전 접근성 정보 확인 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2DF682-E730-4BF5-A9AE-D8F21CAD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86150"/>
            <a:ext cx="3486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안녕하세요, 다유예요. 필요한 것부터 천천히 같이 봐요.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0F5C4-C7C4-4E8B-828E-2395FFF1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24350"/>
            <a:ext cx="2705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대전어린이회관 휠체어 가능해?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DC163-EBA5-4919-8882-66E7D21C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3486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5F8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324F"/>
                </a:solidFill>
                <a:latin typeface="Menlo"/>
                <a:ea typeface="Menlo"/>
                <a:cs typeface="Menlo"/>
              </a:defRPr>
            </a:pPr>
            <a:r>
              <a:t>개발자 정보</a:t>
            </a:r>
          </a:p>
          <a:p xmlns:a="http://schemas.openxmlformats.org/drawingml/2006/main">
            <a:pPr algn="l">
              <a:defRPr sz="1050" b="0">
                <a:solidFill>
                  <a:srgbClr val="16324F"/>
                </a:solidFill>
                <a:latin typeface="Menlo"/>
                <a:ea typeface="Menlo"/>
                <a:cs typeface="Menlo"/>
              </a:defRPr>
            </a:pPr>
            <a:r>
              <a:t>질문분류 JSON</a:t>
            </a:r>
          </a:p>
          <a:p xmlns:a="http://schemas.openxmlformats.org/drawingml/2006/main">
            <a:pPr algn="l">
              <a:defRPr sz="1050" b="0">
                <a:solidFill>
                  <a:srgbClr val="16324F"/>
                </a:solidFill>
                <a:latin typeface="Menlo"/>
                <a:ea typeface="Menlo"/>
                <a:cs typeface="Menlo"/>
              </a:defRPr>
            </a:pPr>
            <a:r>
              <a:t>검색어</a:t>
            </a:r>
          </a:p>
          <a:p xmlns:a="http://schemas.openxmlformats.org/drawingml/2006/main">
            <a:pPr algn="l">
              <a:defRPr sz="1050" b="0">
                <a:solidFill>
                  <a:srgbClr val="16324F"/>
                </a:solidFill>
                <a:latin typeface="Menlo"/>
                <a:ea typeface="Menlo"/>
                <a:cs typeface="Menlo"/>
              </a:defRPr>
            </a:pPr>
            <a:r>
              <a:t>내부 출처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5217D-01EC-43AB-AB91-C5EF7EF9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7432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634BF-35AA-4709-AF8D-31156C7F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대화창 확대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C764D-7D17-4194-B5CD-4E3D9B035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90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답변이 한눈에 보이도록 높이와 폭을 키움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1F928-25E8-400B-86AA-9C36516A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671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F35A22-A5EA-49AF-9C0E-FE7A7EA5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근거 접기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9ABFDE-D31C-4796-A725-D829A2EF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답변 본문은 먼저 읽히고, 근거/JSON은 details로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83ED05-AC0B-4D44-8B4A-9A34FE02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910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6F3E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52FD51-26F4-4DBE-A14F-E3AA6C8B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52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추천 질문 chip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CE2795-C565-4FAE-9804-82739927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8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서비스 소개와 접근성 질문을 자연스럽게 유도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D52879-E983-47DD-BBC1-7AC9FFEE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914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68291E-607A-4E29-B17D-2A77FA8F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다유 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620F09-AC36-4DCA-9B28-22E9D184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625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과장된 사투리 대신 친근하고 느긋한 안내 말투 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5224C-1126-45BA-A905-7D0F675E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638800"/>
            <a:ext cx="4667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324F"/>
                </a:solidFill>
                <a:latin typeface="Menlo"/>
                <a:ea typeface="Menlo"/>
                <a:cs typeface="Menlo"/>
              </a:defRPr>
            </a:pPr>
            <a:r>
              <a:t>수정 파일</a:t>
            </a:r>
          </a:p>
          <a:p xmlns:a="http://schemas.openxmlformats.org/drawingml/2006/main">
            <a:pPr algn="l">
              <a:defRPr sz="975" b="0">
                <a:solidFill>
                  <a:srgbClr val="16324F"/>
                </a:solidFill>
                <a:latin typeface="Menlo"/>
                <a:ea typeface="Menlo"/>
                <a:cs typeface="Menlo"/>
              </a:defRPr>
            </a:pPr>
            <a:r>
              <a:t>src/components/Chatbot.tsx</a:t>
            </a:r>
          </a:p>
          <a:p xmlns:a="http://schemas.openxmlformats.org/drawingml/2006/main">
            <a:pPr algn="l">
              <a:defRPr sz="975" b="0">
                <a:solidFill>
                  <a:srgbClr val="16324F"/>
                </a:solidFill>
                <a:latin typeface="Menlo"/>
                <a:ea typeface="Menlo"/>
                <a:cs typeface="Menlo"/>
              </a:defRPr>
            </a:pPr>
            <a:r>
              <a:t>src/app/api/chat/route.ts</a:t>
            </a:r>
          </a:p>
          <a:p xmlns:a="http://schemas.openxmlformats.org/drawingml/2006/main">
            <a:pPr algn="l">
              <a:defRPr sz="975" b="0">
                <a:solidFill>
                  <a:srgbClr val="16324F"/>
                </a:solidFill>
                <a:latin typeface="Menlo"/>
                <a:ea typeface="Menlo"/>
                <a:cs typeface="Menlo"/>
              </a:defRPr>
            </a:pPr>
            <a:r>
              <a:t>public/daiyu-avatar.png</a:t>
            </a:r>
          </a:p>
        </p:txBody>
      </p:sp>
    </p:spTree>
    <p:extLst>
      <p:ext uri="{BB962C8B-B14F-4D97-AF65-F5344CB8AC3E}">
        <p14:creationId xmlns:p14="http://schemas.microsoft.com/office/powerpoint/2010/main" val="36845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1D0BFF-9360-4941-BE40-ED5E936D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F831B-5B8A-4603-872A-3DAD43CF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628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FC745-DD25-4BDD-83B9-8A896203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다음은 테스트 피드백, 벡터 검색 전환, 데이터 확장의 순서입니다.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E33EB-88B6-47B0-BE89-CCE7001B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695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지금은 추가 embedding 비용 없이 JS 랭킹으로 답변 품질과 데이터 빈틈을 먼저 확인하는 단계입니다.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25C0C-0379-4AE1-8FBB-B0D3CEB4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2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0907B0-3AA6-42BF-A8EB-2AAA092E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2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다대유 챗봇 개발 공유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4A5C9-624A-42D4-A07C-DD418858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198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1632D-6707-449E-9907-491E1F46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지금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E4D45-1625-4062-AF21-664D1638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2114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52400" tIns="171450" rIns="152400" bIns="1714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100개 데이터로 QA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질문분류 JSON, DB 근거, 답변 톤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7DA94-C287-4FC3-9737-0D3896A6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4320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E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다음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08F83-61BC-4364-B591-72A24FDD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00400"/>
            <a:ext cx="2114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52400" tIns="171450" rIns="152400" bIns="1714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pgvector 준비 실행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embedding 키/비용 확정 후 SQL과 embedding 채우기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7F3A4-8B4C-4392-BBB1-97E3E72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4320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E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그 다음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7521E-DEA5-4AF2-BEBD-77704DDC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00400"/>
            <a:ext cx="2114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52400" tIns="171450" rIns="152400" bIns="1714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vector-first 검색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match_chunks RPC 우선 사용, 실패 시 JS ranking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1AAF63-3B5D-46FD-8F5C-07683D98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43200"/>
            <a:ext cx="8382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AF5E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6F3E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확장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60781-B593-4ACF-A980-1D1254E1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0400"/>
            <a:ext cx="21145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52400" tIns="171450" rIns="152400" bIns="17145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데이터 500~1000개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카테고리/실내외/접근성 조건별 선별과 가중치 개선</a:t>
            </a:r>
          </a:p>
        </p:txBody>
      </p:sp>
      <p:cxnSp>
        <p:nvCxnSpPr>
          <p:cNvPr id="16" name=""/>
          <p:cNvCxnSpPr>
            <a:stCxn xmlns:a="http://schemas.openxmlformats.org/drawingml/2006/main" id="11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2990850" y="38576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13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5676900" y="38576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cxnSp>
        <p:nvCxnSpPr>
          <p:cNvPr id="18" name=""/>
          <p:cNvCxnSpPr>
            <a:stCxn xmlns:a="http://schemas.openxmlformats.org/drawingml/2006/main" id="15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8362950" y="38576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B069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F10BB5-9856-4F7E-B0FD-50E5CD99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52197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3FAF0"/>
          </a:solidFill>
          <a:ln xmlns:a="http://schemas.openxmlformats.org/drawingml/2006/main" w="9525">
            <a:solidFill>
              <a:srgbClr val="D8DED2"/>
            </a:solidFill>
            <a:prstDash val="solid"/>
          </a:ln>
        </p:spPr>
        <p:txBody>
          <a:bodyPr xmlns:a="http://schemas.openxmlformats.org/drawingml/2006/main" lIns="171450" tIns="152400" rIns="171450" bIns="15240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팀이 바로 확인할 질문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대전에서 휠체어로 갈만한 문화시설 추천해줘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유모차로 가기 좋은 대전 실내 장소 추천해줘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대전어린이회관 휠체어로 갈 수 있어?</a:t>
            </a:r>
          </a:p>
          <a:p xmlns:a="http://schemas.openxmlformats.org/drawingml/2006/main">
            <a:pPr algn="l">
              <a:defRPr sz="1200" b="0">
                <a:solidFill>
                  <a:srgbClr val="1632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DB에 없는 장소를 물었을 때 멈추는가?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8F3378-06AD-462A-991B-F9535A2F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62500"/>
            <a:ext cx="35433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71450" tIns="142875" rIns="171450" bIns="1428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보류한 것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embedding 생성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OPENAI_API_KEY 사용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pgvector RPC 전환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대량 데이터 적재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비용과 데이터 품질 확인 후 진행합니다.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F9D50-591A-490A-B000-5A223D0C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29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FFD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295F7-3314-4FFB-88DC-7CBAB16A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162550"/>
            <a:ext cx="361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DF6"/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비용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t>주의</a:t>
            </a:r>
          </a:p>
        </p:txBody>
      </p:sp>
    </p:spTree>
    <p:extLst>
      <p:ext uri="{BB962C8B-B14F-4D97-AF65-F5344CB8AC3E}">
        <p14:creationId xmlns:p14="http://schemas.microsoft.com/office/powerpoint/2010/main" val="517389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2026-06-11T10:09:23.3580000Z</dcterms:created>
  <dcterms:modified xsi:type="dcterms:W3CDTF">2026-06-11T10:09:23.3580000Z</dcterms:modified>
</coreProperties>
</file>